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生产线价值流图 (VSM)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F8C8D"/>
                </a:solidFill>
              </a:defRPr>
            </a:pPr>
            <a:r>
              <a:t>电子产品组装生产线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生产线VSM流程图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09728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供应商</a:t>
            </a:r>
          </a:p>
        </p:txBody>
      </p:sp>
      <p:sp>
        <p:nvSpPr>
          <p:cNvPr id="4" name="Pentagon 3"/>
          <p:cNvSpPr/>
          <p:nvPr/>
        </p:nvSpPr>
        <p:spPr>
          <a:xfrm>
            <a:off x="1828800" y="1371600"/>
            <a:ext cx="1097280" cy="731520"/>
          </a:xfrm>
          <a:prstGeom prst="homePlate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原材料</a:t>
            </a:r>
            <a:br/>
            <a:r>
              <a:t>库存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1737360"/>
            <a:ext cx="27432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097280"/>
            <a:ext cx="1371600" cy="11887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冲压</a:t>
            </a:r>
          </a:p>
          <a:p>
            <a:pPr algn="ctr"/>
          </a:p>
          <a:p>
            <a:pPr algn="ctr"/>
            <a:r>
              <a:t>C/T: 2秒</a:t>
            </a:r>
          </a:p>
          <a:p>
            <a:pPr algn="ctr"/>
            <a:r>
              <a:t>C/O: 15分</a:t>
            </a:r>
          </a:p>
          <a:p>
            <a:pPr algn="ctr"/>
            <a:r>
              <a:t>OEE: 85%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691640"/>
            <a:ext cx="45720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1097280"/>
            <a:ext cx="1371600" cy="11887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焊接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C/T: 5秒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C/O: 10分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OEE: 78%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1691640"/>
            <a:ext cx="45720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1097280"/>
            <a:ext cx="1371600" cy="11887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组装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C/T: 8秒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C/O: 20分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OEE: 82%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1691640"/>
            <a:ext cx="45720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entagon 11"/>
          <p:cNvSpPr/>
          <p:nvPr/>
        </p:nvSpPr>
        <p:spPr>
          <a:xfrm>
            <a:off x="8686800" y="1371600"/>
            <a:ext cx="1097280" cy="731520"/>
          </a:xfrm>
          <a:prstGeom prst="homePlate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成品</a:t>
            </a:r>
            <a:br/>
            <a:r>
              <a:t>库存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80" y="1737360"/>
            <a:ext cx="54864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332720" y="1371600"/>
            <a:ext cx="109728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B59B6"/>
                </a:solidFill>
              </a:defRPr>
            </a:pPr>
            <a:r>
              <a:t>信息流: 客户订单 → 生产计划 → 生产指令 → 采购订单 → 交付计划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840480" y="2468880"/>
            <a:ext cx="365760" cy="365760"/>
          </a:xfrm>
          <a:prstGeom prst="downArrow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8346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1200件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77840" y="2468880"/>
            <a:ext cx="365760" cy="365760"/>
          </a:xfrm>
          <a:prstGeom prst="downArrow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8346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800件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498079" y="2468880"/>
            <a:ext cx="365760" cy="365760"/>
          </a:xfrm>
          <a:prstGeom prst="downArrow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8346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500件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关键绩效指标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增值时间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15秒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0.004%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总交付周期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t>约9.5天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增值时间比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0.004%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总库存周转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8500件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客户需求节拍 (T/T): 10.8秒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改善机会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减少焊接工序换模时间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降低等待，提高设备利用率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降低在制品库存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减少资金占用，提高现金流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实施拉动系统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20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按需生产，减少过量生产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优化运输路线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减少搬运时间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改善设备OEE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32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提升整体效率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VSM符号说明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9728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280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工序方框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加工工序</a:t>
            </a:r>
          </a:p>
        </p:txBody>
      </p:sp>
      <p:sp>
        <p:nvSpPr>
          <p:cNvPr id="6" name="Pentagon 5"/>
          <p:cNvSpPr/>
          <p:nvPr/>
        </p:nvSpPr>
        <p:spPr>
          <a:xfrm>
            <a:off x="914400" y="2286000"/>
            <a:ext cx="914400" cy="640080"/>
          </a:xfrm>
          <a:prstGeom prst="homePlate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库存三角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在制品/成品库存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97280" cy="4572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实线箭头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物料流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1999"/>
            <a:ext cx="1097280" cy="457200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57199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虚线箭头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19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信息流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